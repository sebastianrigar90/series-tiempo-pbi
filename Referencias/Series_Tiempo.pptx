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0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5110"/>
            <a:ext cx="8229600" cy="1143000"/>
          </a:xfrm>
        </p:spPr>
        <p:txBody>
          <a:bodyPr/>
          <a:lstStyle/>
          <a:p>
            <a:r>
              <a:rPr dirty="0"/>
              <a:t>Series de </a:t>
            </a:r>
            <a:r>
              <a:rPr dirty="0" err="1"/>
              <a:t>Tiempo</a:t>
            </a:r>
            <a:r>
              <a:rPr dirty="0"/>
              <a:t>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Comprender los modelos AR, MA y ARMA.</a:t>
            </a:r>
          </a:p>
          <a:p>
            <a:pPr>
              <a:defRPr sz="2200"/>
            </a:pPr>
            <a:r>
              <a:t>Interpretar ACF y PACF.</a:t>
            </a:r>
          </a:p>
          <a:p>
            <a:pPr>
              <a:defRPr sz="2200"/>
            </a:pPr>
            <a:r>
              <a:t>Estimar y pronosticar series temporales en Python.</a:t>
            </a:r>
          </a:p>
          <a:p>
            <a:pPr>
              <a:defRPr sz="2200"/>
            </a:pPr>
            <a:r>
              <a:t>Introducir el concepto de cointegración.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las Series de Tiempo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Una serie temporal es una secuencia de observaciones ordenadas en el tiempo.</a:t>
            </a:r>
          </a:p>
          <a:p>
            <a:pPr>
              <a:defRPr sz="2200"/>
            </a:pPr>
            <a:r>
              <a:t>Objetivos: descripción, modelado y pronóstico.</a:t>
            </a:r>
          </a:p>
          <a:p>
            <a:pPr>
              <a:defRPr sz="2200"/>
            </a:pPr>
            <a:r>
              <a:t>Conceptos clave: tendencia, estacionalidad, ruido y estacionariedad.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Estacionariedad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La media y varianza permanecen constantes en el tiempo.</a:t>
            </a:r>
          </a:p>
          <a:p>
            <a:pPr>
              <a:defRPr sz="2200"/>
            </a:pPr>
            <a:r>
              <a:t>La autocovarianza depende únicamente del rezago.</a:t>
            </a:r>
          </a:p>
          <a:p>
            <a:pPr>
              <a:defRPr sz="2200"/>
            </a:pPr>
            <a:r>
              <a:t>Muchos modelos clásicos requieren estacionariedad.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Autorregresivo AR(1)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Ecuación: Rt = μ + φRt-1 + εt</a:t>
            </a:r>
          </a:p>
          <a:p>
            <a:pPr>
              <a:defRPr sz="2200"/>
            </a:pPr>
            <a:r>
              <a:t>φ mide la dependencia con el pasado.</a:t>
            </a:r>
          </a:p>
          <a:p>
            <a:pPr>
              <a:defRPr sz="2200"/>
            </a:pPr>
            <a:r>
              <a:t>Condición de estacionariedad: -1 &lt; φ &lt;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Interpretación del parámetro 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φ &gt; 0: persistencia o momentum.</a:t>
            </a:r>
          </a:p>
          <a:p>
            <a:pPr>
              <a:defRPr sz="2200"/>
            </a:pPr>
            <a:r>
              <a:t>φ &lt; 0: reversión a la media.</a:t>
            </a:r>
          </a:p>
          <a:p>
            <a:pPr>
              <a:defRPr sz="2200"/>
            </a:pPr>
            <a:r>
              <a:t>|φ| cercano a 1: alta persistencia.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AR(p)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Extensión a múltiples rezagos.</a:t>
            </a:r>
          </a:p>
          <a:p>
            <a:pPr>
              <a:defRPr sz="2200"/>
            </a:pPr>
            <a:r>
              <a:t>Rt = μ + φ1Rt-1 + ... + φpRt-p + εt</a:t>
            </a:r>
          </a:p>
          <a:p>
            <a:pPr>
              <a:defRPr sz="2200"/>
            </a:pPr>
            <a:r>
              <a:t>La PACF ayuda a identificar el orden 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Autocorrelación (ACF) y Autocorrelación Parcial (PACF)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ACF: correlación con rezagos sucesivos.</a:t>
            </a:r>
          </a:p>
          <a:p>
            <a:pPr>
              <a:defRPr sz="2200"/>
            </a:pPr>
            <a:r>
              <a:t>PACF: efecto puro de cada rezago.</a:t>
            </a:r>
          </a:p>
          <a:p>
            <a:pPr>
              <a:defRPr sz="2200"/>
            </a:pPr>
            <a:r>
              <a:t>AR(p): PACF se corta en p; ACF decae gradualmente.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Simulación y Estimación de 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statsmodels.tsa.arima_process.ArmaProcess</a:t>
            </a:r>
          </a:p>
          <a:p>
            <a:pPr>
              <a:defRPr sz="2200"/>
            </a:pPr>
            <a:r>
              <a:t>ARIMA(data, order=(p,0,0))</a:t>
            </a:r>
          </a:p>
          <a:p>
            <a:pPr>
              <a:defRPr sz="2200"/>
            </a:pPr>
            <a:r>
              <a:t>Estimación mediante máxima verosimilitud.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Pronóstico con Modelos 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Los valores futuros dependen de observaciones pasadas.</a:t>
            </a:r>
          </a:p>
          <a:p>
            <a:pPr>
              <a:defRPr sz="2200"/>
            </a:pPr>
            <a:r>
              <a:t>Útiles en demanda, energía y finanzas.</a:t>
            </a:r>
          </a:p>
          <a:p>
            <a:pPr>
              <a:defRPr sz="2200"/>
            </a:pPr>
            <a:r>
              <a:t>La incertidumbre aumenta con el horizonte.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Media Móvil MA(1)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Rt = μ + εt + θεt-1</a:t>
            </a:r>
          </a:p>
          <a:p>
            <a:pPr>
              <a:defRPr sz="2200"/>
            </a:pPr>
            <a:r>
              <a:t>Depende de errores pasados.</a:t>
            </a:r>
          </a:p>
          <a:p>
            <a:pPr>
              <a:defRPr sz="2200"/>
            </a:pPr>
            <a:r>
              <a:t>Es estacionario para cualquier valor de 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Interpretación del parámetro 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θ &gt; 0: impulso de corto plazo.</a:t>
            </a:r>
          </a:p>
          <a:p>
            <a:pPr>
              <a:defRPr sz="2200"/>
            </a:pPr>
            <a:r>
              <a:t>θ &lt; 0: reversión de un periodo.</a:t>
            </a:r>
          </a:p>
          <a:p>
            <a:pPr>
              <a:defRPr sz="2200"/>
            </a:pPr>
            <a:r>
              <a:t>La ACF se corta después del rezago 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MA(q)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Rt = μ + εt + θ1εt-1 + ... + θqεt-q</a:t>
            </a:r>
          </a:p>
          <a:p>
            <a:pPr>
              <a:defRPr sz="2200"/>
            </a:pPr>
            <a:r>
              <a:t>La ACF es clave para identificar q.</a:t>
            </a:r>
          </a:p>
          <a:p>
            <a:pPr>
              <a:defRPr sz="2200"/>
            </a:pPr>
            <a:r>
              <a:t>La PACF decae gradualmente.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ARMA(p,q)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Combinan componentes AR y MA.</a:t>
            </a:r>
          </a:p>
          <a:p>
            <a:pPr>
              <a:defRPr sz="2200"/>
            </a:pPr>
            <a:r>
              <a:t>ARMA(1,1): Rt = μ + φRt-1 + εt + θεt-1</a:t>
            </a:r>
          </a:p>
          <a:p>
            <a:pPr>
              <a:defRPr sz="2200"/>
            </a:pPr>
            <a:r>
              <a:t>Capturan dependencias complejas.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Selección de Modelos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Utilizar AIC y BIC.</a:t>
            </a:r>
          </a:p>
          <a:p>
            <a:pPr>
              <a:defRPr sz="2200"/>
            </a:pPr>
            <a:r>
              <a:t>Analizar residuos y pruebas de diagnóstico.</a:t>
            </a:r>
          </a:p>
          <a:p>
            <a:pPr>
              <a:defRPr sz="2200"/>
            </a:pPr>
            <a:r>
              <a:t>Escoger el modelo más parsimonioso.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Cointegración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Dos series no estacionarias pueden compartir una relación estable.</a:t>
            </a:r>
          </a:p>
          <a:p>
            <a:pPr>
              <a:defRPr sz="2200"/>
            </a:pPr>
            <a:r>
              <a:t>La combinación lineal entre ellas puede ser estacionaria.</a:t>
            </a:r>
          </a:p>
          <a:p>
            <a:pPr>
              <a:defRPr sz="2200"/>
            </a:pPr>
            <a:r>
              <a:t>Concepto ampliamente usado en economía y finanzas.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Intuición: Perro y Correa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Dos series se mueven como caminatas aleatorias.</a:t>
            </a:r>
          </a:p>
          <a:p>
            <a:pPr>
              <a:defRPr sz="2200"/>
            </a:pPr>
            <a:r>
              <a:t>La distancia entre ellas revierte a la media.</a:t>
            </a:r>
          </a:p>
          <a:p>
            <a:pPr>
              <a:defRPr sz="2200"/>
            </a:pPr>
            <a:r>
              <a:t>Ejemplo clásico para entender cointegración.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Prueba de Cointegración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Regresar Pt sobre Qt.</a:t>
            </a:r>
          </a:p>
          <a:p>
            <a:pPr>
              <a:defRPr sz="2200"/>
            </a:pPr>
            <a:r>
              <a:t>2. Aplicar la prueba Dickey-Fuller al residuo.</a:t>
            </a:r>
          </a:p>
          <a:p>
            <a:pPr>
              <a:defRPr sz="2200"/>
            </a:pPr>
            <a:r>
              <a:t>Alternativamente: statsmodels.tsa.stattools.coint().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Trading estadístico y pares de activos.</a:t>
            </a:r>
          </a:p>
          <a:p>
            <a:pPr>
              <a:defRPr sz="2200"/>
            </a:pPr>
            <a:r>
              <a:t>Pronóstico de demanda y energía.</a:t>
            </a:r>
          </a:p>
          <a:p>
            <a:pPr>
              <a:defRPr sz="2200"/>
            </a:pPr>
            <a:r>
              <a:t>Macroeconomía y mercados financieros.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Implementación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statsmodels para ARIMA y cointegración.</a:t>
            </a:r>
          </a:p>
          <a:p>
            <a:pPr>
              <a:defRPr sz="2200"/>
            </a:pPr>
            <a:r>
              <a:t>plot_acf y plot_pacf para diagnóstico.</a:t>
            </a:r>
          </a:p>
          <a:p>
            <a:pPr>
              <a:defRPr sz="2200"/>
            </a:pPr>
            <a:r>
              <a:t>Pronósticos con predict() y forecast().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Los modelos AR y MA son la base del análisis temporal clásico.</a:t>
            </a:r>
          </a:p>
          <a:p>
            <a:pPr>
              <a:defRPr sz="2200"/>
            </a:pPr>
            <a:r>
              <a:t>ARMA permite modelar dependencias más complejas.</a:t>
            </a:r>
          </a:p>
          <a:p>
            <a:pPr>
              <a:defRPr sz="2200"/>
            </a:pPr>
            <a:r>
              <a:t>La cointegración identifica relaciones de largo plazo entre series.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585</Words>
  <Application>Microsoft Office PowerPoint</Application>
  <PresentationFormat>Presentación en pantalla (4:3)</PresentationFormat>
  <Paragraphs>82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Series de Tiempo:</vt:lpstr>
      <vt:lpstr>Objetivos</vt:lpstr>
      <vt:lpstr>Introducción a las Series de Tiempo</vt:lpstr>
      <vt:lpstr>Estacionariedad</vt:lpstr>
      <vt:lpstr>Modelo Autorregresivo AR(1)</vt:lpstr>
      <vt:lpstr>Interpretación del parámetro φ</vt:lpstr>
      <vt:lpstr>Modelos AR(p)</vt:lpstr>
      <vt:lpstr>Autocorrelación (ACF) y Autocorrelación Parcial (PACF)</vt:lpstr>
      <vt:lpstr>Simulación y Estimación de AR</vt:lpstr>
      <vt:lpstr>Pronóstico con Modelos AR</vt:lpstr>
      <vt:lpstr>Modelo de Media Móvil MA(1)</vt:lpstr>
      <vt:lpstr>Interpretación del parámetro θ</vt:lpstr>
      <vt:lpstr>Modelos MA(q)</vt:lpstr>
      <vt:lpstr>Modelos ARMA(p,q)</vt:lpstr>
      <vt:lpstr>Selección de Modelos</vt:lpstr>
      <vt:lpstr>Cointegración</vt:lpstr>
      <vt:lpstr>Intuición: Perro y Correa</vt:lpstr>
      <vt:lpstr>Prueba de Cointegración</vt:lpstr>
      <vt:lpstr>Aplicaciones</vt:lpstr>
      <vt:lpstr>Implementación en Python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Series de Tiempo:</dc:title>
  <dc:subject/>
  <dc:creator/>
  <cp:keywords/>
  <dc:description>generated using python-pptx</dc:description>
  <cp:lastModifiedBy>RYZEN 7</cp:lastModifiedBy>
  <cp:revision>2</cp:revision>
  <dcterms:created xsi:type="dcterms:W3CDTF">2013-01-27T09:14:16Z</dcterms:created>
  <dcterms:modified xsi:type="dcterms:W3CDTF">2026-07-08T02:35:12Z</dcterms:modified>
  <cp:category/>
</cp:coreProperties>
</file>